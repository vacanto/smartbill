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layfair Displ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fairDisplay-bold.fntdata"/><Relationship Id="rId23" Type="http://schemas.openxmlformats.org/officeDocument/2006/relationships/font" Target="fonts/PlayfairDi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boldItalic.fntdata"/><Relationship Id="rId25" Type="http://schemas.openxmlformats.org/officeDocument/2006/relationships/font" Target="fonts/PlayfairDispl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ff77c7c0b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ff77c7c0b_0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ff77c7c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ff77c7c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ff77c7c0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ff77c7c0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ff77c7c0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ff77c7c0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ff77c7c0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ff77c7c0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ff77c7c0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ff77c7c0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ff77c7c0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ff77c7c0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ff77c7c0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ff77c7c0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ff77c7c0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ff77c7c0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6cbe3e09c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6cbe3e09c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ff77c7c0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ff77c7c0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ff77c7c0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ff77c7c0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ff77c7c0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ff77c7c0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ff77c7c0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ff77c7c0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ff77c7c0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ff77c7c0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ff77c7c0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ff77c7c0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ff77c7c0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ff77c7c0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flipH="1">
            <a:off x="311700" y="450125"/>
            <a:ext cx="8520600" cy="1137900"/>
          </a:xfrm>
          <a:prstGeom prst="rect">
            <a:avLst/>
          </a:prstGeom>
        </p:spPr>
        <p:txBody>
          <a:bodyPr anchorCtr="0" anchor="b" bIns="91425" lIns="91425" spcFirstLastPara="1" rIns="91425" wrap="square" tIns="91425">
            <a:noAutofit/>
          </a:bodyPr>
          <a:lstStyle/>
          <a:p>
            <a:pPr indent="0" lvl="0" marL="0" rtl="0" algn="l">
              <a:spcBef>
                <a:spcPts val="1000"/>
              </a:spcBef>
              <a:spcAft>
                <a:spcPts val="0"/>
              </a:spcAft>
              <a:buSzPts val="891"/>
              <a:buNone/>
            </a:pPr>
            <a:r>
              <a:rPr b="1" lang="en-GB" sz="2878">
                <a:latin typeface="Times"/>
                <a:ea typeface="Times"/>
                <a:cs typeface="Times"/>
                <a:sym typeface="Times"/>
              </a:rPr>
              <a:t>HOUSEHOLD ELECTRICITY CONSUMPTION FORECASTING</a:t>
            </a:r>
            <a:endParaRPr b="1" sz="2878">
              <a:latin typeface="Times"/>
              <a:ea typeface="Times"/>
              <a:cs typeface="Times"/>
              <a:sym typeface="Times"/>
            </a:endParaRPr>
          </a:p>
        </p:txBody>
      </p:sp>
      <p:sp>
        <p:nvSpPr>
          <p:cNvPr id="69" name="Google Shape;69;p13"/>
          <p:cNvSpPr txBox="1"/>
          <p:nvPr>
            <p:ph idx="1" type="subTitle"/>
          </p:nvPr>
        </p:nvSpPr>
        <p:spPr>
          <a:xfrm>
            <a:off x="5376150" y="2834125"/>
            <a:ext cx="3456000" cy="7926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b="1" lang="en-GB">
                <a:solidFill>
                  <a:schemeClr val="dk1"/>
                </a:solidFill>
                <a:latin typeface="Times"/>
                <a:ea typeface="Times"/>
                <a:cs typeface="Times"/>
                <a:sym typeface="Times"/>
              </a:rPr>
              <a:t>By Anto Charles 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Problem Statement</a:t>
            </a:r>
            <a:endParaRPr b="1" sz="3500">
              <a:latin typeface="Times"/>
              <a:ea typeface="Times"/>
              <a:cs typeface="Times"/>
              <a:sym typeface="Times"/>
            </a:endParaRPr>
          </a:p>
        </p:txBody>
      </p:sp>
      <p:sp>
        <p:nvSpPr>
          <p:cNvPr id="75" name="Google Shape;75;p14"/>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p>
            <a:pPr indent="0" lvl="0" marL="0" rtl="0" algn="l">
              <a:lnSpc>
                <a:spcPct val="156631"/>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Households across India face significant challenges in managing and predicting their monthly electricity consumption. Many families struggle with unpredictable electricity bills that arrive without warning, making it difficult to budget effectively. There is no mechanism for households to estimate their energy costs based on their appliance inventory and usage patterns. Additionally, users are unaware of how their appliances collectively affect voltage stability in their homes, which can potentially damage sensitive electronics over time.</a:t>
            </a:r>
            <a:endParaRPr sz="1400">
              <a:solidFill>
                <a:schemeClr val="dk1"/>
              </a:solidFill>
              <a:latin typeface="Times"/>
              <a:ea typeface="Times"/>
              <a:cs typeface="Times"/>
              <a:sym typeface="Times"/>
            </a:endParaRPr>
          </a:p>
          <a:p>
            <a:pPr indent="0" lvl="0" marL="0" rtl="0" algn="l">
              <a:lnSpc>
                <a:spcPct val="156631"/>
              </a:lnSpc>
              <a:spcBef>
                <a:spcPts val="420"/>
              </a:spcBef>
              <a:spcAft>
                <a:spcPts val="0"/>
              </a:spcAft>
              <a:buClr>
                <a:schemeClr val="dk1"/>
              </a:buClr>
              <a:buFont typeface="Arial"/>
              <a:buNone/>
            </a:pPr>
            <a:r>
              <a:rPr lang="en-GB" sz="1400">
                <a:solidFill>
                  <a:schemeClr val="dk1"/>
                </a:solidFill>
                <a:latin typeface="Times"/>
                <a:ea typeface="Times"/>
                <a:cs typeface="Times"/>
                <a:sym typeface="Times"/>
              </a:rPr>
              <a:t>The lack of appliance-level insights prevents consumers from understanding which devices consume the most electricity and what the actual cost of adding a new appliance would be. Without real-time insights and data-driven recommendations, users cannot optimize their energy consumption or make informed decisions about purchasing new appliances. This project addresses these critical gaps by developing SmartBill, a machine learning-powered system that instantly predicts electricity bills and voltage stability based on household characteristics and appliance inventory.</a:t>
            </a:r>
            <a:endParaRPr sz="1400">
              <a:solidFill>
                <a:schemeClr val="dk1"/>
              </a:solidFill>
              <a:latin typeface="Times"/>
              <a:ea typeface="Times"/>
              <a:cs typeface="Times"/>
              <a:sym typeface="Times"/>
            </a:endParaRPr>
          </a:p>
          <a:p>
            <a:pPr indent="0" lvl="0" marL="0" rtl="0" algn="l">
              <a:spcBef>
                <a:spcPts val="0"/>
              </a:spcBef>
              <a:spcAft>
                <a:spcPts val="1200"/>
              </a:spcAft>
              <a:buNone/>
            </a:pPr>
            <a:r>
              <a:t/>
            </a:r>
            <a:endParaRPr sz="1400">
              <a:solidFill>
                <a:schemeClr val="dk1"/>
              </a:solidFill>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Proposed Solution</a:t>
            </a:r>
            <a:endParaRPr b="1">
              <a:latin typeface="Times"/>
              <a:ea typeface="Times"/>
              <a:cs typeface="Times"/>
              <a:sym typeface="Times"/>
            </a:endParaRPr>
          </a:p>
          <a:p>
            <a:pPr indent="0" lvl="0" marL="0" rtl="0" algn="l">
              <a:spcBef>
                <a:spcPts val="0"/>
              </a:spcBef>
              <a:spcAft>
                <a:spcPts val="0"/>
              </a:spcAft>
              <a:buNone/>
            </a:pPr>
            <a:r>
              <a:t/>
            </a:r>
            <a:endParaRPr b="1">
              <a:latin typeface="Times"/>
              <a:ea typeface="Times"/>
              <a:cs typeface="Times"/>
              <a:sym typeface="Times"/>
            </a:endParaRPr>
          </a:p>
        </p:txBody>
      </p:sp>
      <p:sp>
        <p:nvSpPr>
          <p:cNvPr id="81" name="Google Shape;81;p15"/>
          <p:cNvSpPr txBox="1"/>
          <p:nvPr>
            <p:ph idx="1" type="body"/>
          </p:nvPr>
        </p:nvSpPr>
        <p:spPr>
          <a:xfrm>
            <a:off x="311700" y="1417800"/>
            <a:ext cx="8520600" cy="3150900"/>
          </a:xfrm>
          <a:prstGeom prst="rect">
            <a:avLst/>
          </a:prstGeom>
        </p:spPr>
        <p:txBody>
          <a:bodyPr anchorCtr="0" anchor="t" bIns="91425" lIns="91425" spcFirstLastPara="1" rIns="91425" wrap="square" tIns="91425">
            <a:normAutofit fontScale="70000" lnSpcReduction="10000"/>
          </a:bodyPr>
          <a:lstStyle/>
          <a:p>
            <a:pPr indent="0" lvl="0" marL="108712" rtl="0" algn="just">
              <a:lnSpc>
                <a:spcPct val="251428"/>
              </a:lnSpc>
              <a:spcBef>
                <a:spcPts val="1680"/>
              </a:spcBef>
              <a:spcAft>
                <a:spcPts val="0"/>
              </a:spcAft>
              <a:buClr>
                <a:schemeClr val="dk1"/>
              </a:buClr>
              <a:buFont typeface="Arial"/>
              <a:buNone/>
            </a:pPr>
            <a:r>
              <a:rPr lang="en-GB">
                <a:solidFill>
                  <a:schemeClr val="dk1"/>
                </a:solidFill>
                <a:latin typeface="Times"/>
                <a:ea typeface="Times"/>
                <a:cs typeface="Times"/>
                <a:sym typeface="Times"/>
              </a:rPr>
              <a:t>Machine Learning model using </a:t>
            </a:r>
            <a:r>
              <a:rPr b="1" lang="en-GB">
                <a:solidFill>
                  <a:schemeClr val="dk1"/>
                </a:solidFill>
                <a:latin typeface="Times"/>
                <a:ea typeface="Times"/>
                <a:cs typeface="Times"/>
                <a:sym typeface="Times"/>
              </a:rPr>
              <a:t>Random Forest Regressor</a:t>
            </a:r>
            <a:endParaRPr>
              <a:solidFill>
                <a:schemeClr val="dk1"/>
              </a:solidFill>
              <a:latin typeface="Times"/>
              <a:ea typeface="Times"/>
              <a:cs typeface="Times"/>
              <a:sym typeface="Times"/>
            </a:endParaRPr>
          </a:p>
          <a:p>
            <a:pPr indent="0" lvl="0" marL="108712" rtl="0" algn="just">
              <a:lnSpc>
                <a:spcPct val="251428"/>
              </a:lnSpc>
              <a:spcBef>
                <a:spcPts val="0"/>
              </a:spcBef>
              <a:spcAft>
                <a:spcPts val="0"/>
              </a:spcAft>
              <a:buClr>
                <a:schemeClr val="dk1"/>
              </a:buClr>
              <a:buFont typeface="Arial"/>
              <a:buNone/>
            </a:pPr>
            <a:r>
              <a:rPr lang="en-GB">
                <a:solidFill>
                  <a:schemeClr val="dk1"/>
                </a:solidFill>
                <a:latin typeface="Times"/>
                <a:ea typeface="Times"/>
                <a:cs typeface="Times"/>
                <a:sym typeface="Times"/>
              </a:rPr>
              <a:t>•    Input: Appliance details (fans, lights, AC, geyser, washing machine, etc.)</a:t>
            </a:r>
            <a:endParaRPr>
              <a:solidFill>
                <a:schemeClr val="dk1"/>
              </a:solidFill>
              <a:latin typeface="Times"/>
              <a:ea typeface="Times"/>
              <a:cs typeface="Times"/>
              <a:sym typeface="Times"/>
            </a:endParaRPr>
          </a:p>
          <a:p>
            <a:pPr indent="0" lvl="0" marL="108712" rtl="0" algn="just">
              <a:lnSpc>
                <a:spcPct val="251428"/>
              </a:lnSpc>
              <a:spcBef>
                <a:spcPts val="0"/>
              </a:spcBef>
              <a:spcAft>
                <a:spcPts val="0"/>
              </a:spcAft>
              <a:buClr>
                <a:schemeClr val="dk1"/>
              </a:buClr>
              <a:buFont typeface="Arial"/>
              <a:buNone/>
            </a:pPr>
            <a:r>
              <a:rPr lang="en-GB">
                <a:solidFill>
                  <a:schemeClr val="dk1"/>
                </a:solidFill>
                <a:latin typeface="Times"/>
                <a:ea typeface="Times"/>
                <a:cs typeface="Times"/>
                <a:sym typeface="Times"/>
              </a:rPr>
              <a:t>•    Input: Household info (family size, house size in sqft, number of rooms)</a:t>
            </a:r>
            <a:endParaRPr>
              <a:solidFill>
                <a:schemeClr val="dk1"/>
              </a:solidFill>
              <a:latin typeface="Times"/>
              <a:ea typeface="Times"/>
              <a:cs typeface="Times"/>
              <a:sym typeface="Times"/>
            </a:endParaRPr>
          </a:p>
          <a:p>
            <a:pPr indent="0" lvl="0" marL="0" rtl="0" algn="l">
              <a:spcBef>
                <a:spcPts val="0"/>
              </a:spcBef>
              <a:spcAft>
                <a:spcPts val="0"/>
              </a:spcAft>
              <a:buNone/>
            </a:pPr>
            <a:r>
              <a:rPr lang="en-GB">
                <a:solidFill>
                  <a:schemeClr val="dk1"/>
                </a:solidFill>
                <a:latin typeface="Times"/>
                <a:ea typeface="Times"/>
                <a:cs typeface="Times"/>
                <a:sym typeface="Times"/>
              </a:rPr>
              <a:t>  •    Output: Predicted voltage (V) and monthly electricity bill (K)</a:t>
            </a:r>
            <a:endParaRPr>
              <a:solidFill>
                <a:schemeClr val="dk1"/>
              </a:solidFill>
              <a:latin typeface="Times"/>
              <a:ea typeface="Times"/>
              <a:cs typeface="Times"/>
              <a:sym typeface="Times"/>
            </a:endParaRPr>
          </a:p>
          <a:p>
            <a:pPr indent="0" lvl="0" marL="0" rtl="0" algn="just">
              <a:lnSpc>
                <a:spcPct val="251428"/>
              </a:lnSpc>
              <a:spcBef>
                <a:spcPts val="1200"/>
              </a:spcBef>
              <a:spcAft>
                <a:spcPts val="0"/>
              </a:spcAft>
              <a:buClr>
                <a:schemeClr val="dk1"/>
              </a:buClr>
              <a:buFont typeface="Arial"/>
              <a:buNone/>
            </a:pPr>
            <a:r>
              <a:rPr lang="en-GB">
                <a:solidFill>
                  <a:schemeClr val="dk1"/>
                </a:solidFill>
                <a:latin typeface="Times"/>
                <a:ea typeface="Times"/>
                <a:cs typeface="Times"/>
                <a:sym typeface="Times"/>
              </a:rPr>
              <a:t>   •    Streamlit web app for easy user access and real-time predictions</a:t>
            </a:r>
            <a:endParaRPr>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a:solidFill>
                  <a:schemeClr val="dk1"/>
                </a:solidFill>
                <a:latin typeface="Times"/>
                <a:ea typeface="Times"/>
                <a:cs typeface="Times"/>
                <a:sym typeface="Times"/>
              </a:rPr>
              <a:t>   •    SQLite database for secure user authentication and data management</a:t>
            </a:r>
            <a:endParaRPr>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Font typeface="Arial"/>
              <a:buNone/>
            </a:pPr>
            <a:r>
              <a:rPr b="1" lang="en-GB" sz="3205">
                <a:latin typeface="Times"/>
                <a:ea typeface="Times"/>
                <a:cs typeface="Times"/>
                <a:sym typeface="Times"/>
              </a:rPr>
              <a:t>Dataset Characteristics</a:t>
            </a:r>
            <a:endParaRPr b="1" sz="3205">
              <a:latin typeface="Times"/>
              <a:ea typeface="Times"/>
              <a:cs typeface="Times"/>
              <a:sym typeface="Times"/>
            </a:endParaRPr>
          </a:p>
          <a:p>
            <a:pPr indent="0" lvl="0" marL="0" rtl="0" algn="l">
              <a:spcBef>
                <a:spcPts val="0"/>
              </a:spcBef>
              <a:spcAft>
                <a:spcPts val="0"/>
              </a:spcAft>
              <a:buNone/>
            </a:pPr>
            <a:r>
              <a:t/>
            </a:r>
            <a:endParaRPr/>
          </a:p>
        </p:txBody>
      </p:sp>
      <p:sp>
        <p:nvSpPr>
          <p:cNvPr id="87" name="Google Shape;87;p16"/>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254000" rtl="0" algn="l">
              <a:lnSpc>
                <a:spcPct val="100000"/>
              </a:lnSpc>
              <a:spcBef>
                <a:spcPts val="0"/>
              </a:spcBef>
              <a:spcAft>
                <a:spcPts val="0"/>
              </a:spcAft>
              <a:buNone/>
            </a:pPr>
            <a:r>
              <a:rPr b="1" lang="en-GB" sz="1900">
                <a:solidFill>
                  <a:schemeClr val="dk1"/>
                </a:solidFill>
                <a:latin typeface="Times"/>
                <a:ea typeface="Times"/>
                <a:cs typeface="Times"/>
                <a:sym typeface="Times"/>
              </a:rPr>
              <a:t>Data Size</a:t>
            </a:r>
            <a:endParaRPr sz="1900">
              <a:solidFill>
                <a:schemeClr val="dk1"/>
              </a:solidFill>
              <a:latin typeface="Times"/>
              <a:ea typeface="Times"/>
              <a:cs typeface="Times"/>
              <a:sym typeface="Times"/>
            </a:endParaRPr>
          </a:p>
          <a:p>
            <a:pPr indent="0" lvl="0" marL="254000" rtl="0" algn="l">
              <a:lnSpc>
                <a:spcPct val="100000"/>
              </a:lnSpc>
              <a:spcBef>
                <a:spcPts val="1050"/>
              </a:spcBef>
              <a:spcAft>
                <a:spcPts val="0"/>
              </a:spcAft>
              <a:buNone/>
            </a:pPr>
            <a:r>
              <a:rPr lang="en-GB" sz="1900">
                <a:solidFill>
                  <a:schemeClr val="dk1"/>
                </a:solidFill>
                <a:latin typeface="Times"/>
                <a:ea typeface="Times"/>
                <a:cs typeface="Times"/>
                <a:sym typeface="Times"/>
              </a:rPr>
              <a:t>10,000 synthetic household records</a:t>
            </a:r>
            <a:endParaRPr sz="1900">
              <a:solidFill>
                <a:schemeClr val="dk1"/>
              </a:solidFill>
              <a:latin typeface="Times"/>
              <a:ea typeface="Times"/>
              <a:cs typeface="Times"/>
              <a:sym typeface="Times"/>
            </a:endParaRPr>
          </a:p>
          <a:p>
            <a:pPr indent="0" lvl="0" marL="254000" rtl="0" algn="l">
              <a:lnSpc>
                <a:spcPct val="100000"/>
              </a:lnSpc>
              <a:spcBef>
                <a:spcPts val="0"/>
              </a:spcBef>
              <a:spcAft>
                <a:spcPts val="0"/>
              </a:spcAft>
              <a:buNone/>
            </a:pPr>
            <a:r>
              <a:rPr b="1" lang="en-GB" sz="1900">
                <a:solidFill>
                  <a:schemeClr val="dk1"/>
                </a:solidFill>
                <a:latin typeface="Times"/>
                <a:ea typeface="Times"/>
                <a:cs typeface="Times"/>
                <a:sym typeface="Times"/>
              </a:rPr>
              <a:t>Features</a:t>
            </a:r>
            <a:endParaRPr sz="1900">
              <a:solidFill>
                <a:schemeClr val="dk1"/>
              </a:solidFill>
              <a:latin typeface="Times"/>
              <a:ea typeface="Times"/>
              <a:cs typeface="Times"/>
              <a:sym typeface="Times"/>
            </a:endParaRPr>
          </a:p>
          <a:p>
            <a:pPr indent="0" lvl="0" marL="254000" rtl="0" algn="l">
              <a:lnSpc>
                <a:spcPct val="100000"/>
              </a:lnSpc>
              <a:spcBef>
                <a:spcPts val="1050"/>
              </a:spcBef>
              <a:spcAft>
                <a:spcPts val="0"/>
              </a:spcAft>
              <a:buNone/>
            </a:pPr>
            <a:r>
              <a:rPr lang="en-GB" sz="1900">
                <a:solidFill>
                  <a:schemeClr val="dk1"/>
                </a:solidFill>
                <a:latin typeface="Times"/>
                <a:ea typeface="Times"/>
                <a:cs typeface="Times"/>
                <a:sym typeface="Times"/>
              </a:rPr>
              <a:t>11 input variables (appliances + household)</a:t>
            </a:r>
            <a:endParaRPr sz="1900">
              <a:solidFill>
                <a:schemeClr val="dk1"/>
              </a:solidFill>
              <a:latin typeface="Times"/>
              <a:ea typeface="Times"/>
              <a:cs typeface="Times"/>
              <a:sym typeface="Times"/>
            </a:endParaRPr>
          </a:p>
          <a:p>
            <a:pPr indent="0" lvl="0" marL="254000" rtl="0" algn="l">
              <a:lnSpc>
                <a:spcPct val="100000"/>
              </a:lnSpc>
              <a:spcBef>
                <a:spcPts val="0"/>
              </a:spcBef>
              <a:spcAft>
                <a:spcPts val="0"/>
              </a:spcAft>
              <a:buNone/>
            </a:pPr>
            <a:r>
              <a:rPr b="1" lang="en-GB" sz="1900">
                <a:solidFill>
                  <a:schemeClr val="dk1"/>
                </a:solidFill>
                <a:latin typeface="Times"/>
                <a:ea typeface="Times"/>
                <a:cs typeface="Times"/>
                <a:sym typeface="Times"/>
              </a:rPr>
              <a:t>Targets</a:t>
            </a:r>
            <a:endParaRPr sz="1900">
              <a:solidFill>
                <a:schemeClr val="dk1"/>
              </a:solidFill>
              <a:latin typeface="Times"/>
              <a:ea typeface="Times"/>
              <a:cs typeface="Times"/>
              <a:sym typeface="Times"/>
            </a:endParaRPr>
          </a:p>
          <a:p>
            <a:pPr indent="0" lvl="0" marL="254000" rtl="0" algn="l">
              <a:lnSpc>
                <a:spcPct val="100000"/>
              </a:lnSpc>
              <a:spcBef>
                <a:spcPts val="1050"/>
              </a:spcBef>
              <a:spcAft>
                <a:spcPts val="0"/>
              </a:spcAft>
              <a:buNone/>
            </a:pPr>
            <a:r>
              <a:rPr lang="en-GB" sz="1900">
                <a:solidFill>
                  <a:schemeClr val="dk1"/>
                </a:solidFill>
                <a:latin typeface="Times"/>
                <a:ea typeface="Times"/>
                <a:cs typeface="Times"/>
                <a:sym typeface="Times"/>
              </a:rPr>
              <a:t>Voltage (V) &amp; Electricity Bill (K)</a:t>
            </a:r>
            <a:endParaRPr sz="1900">
              <a:solidFill>
                <a:schemeClr val="dk1"/>
              </a:solidFill>
              <a:latin typeface="Times"/>
              <a:ea typeface="Times"/>
              <a:cs typeface="Times"/>
              <a:sym typeface="Times"/>
            </a:endParaRPr>
          </a:p>
          <a:p>
            <a:pPr indent="0" lvl="0" marL="0" rtl="0" algn="l">
              <a:spcBef>
                <a:spcPts val="0"/>
              </a:spcBef>
              <a:spcAft>
                <a:spcPts val="1200"/>
              </a:spcAft>
              <a:buNone/>
            </a:pPr>
            <a:r>
              <a:t/>
            </a:r>
            <a:endParaRPr>
              <a:solidFill>
                <a:schemeClr val="dk1"/>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3570"/>
              </a:spcBef>
              <a:spcAft>
                <a:spcPts val="0"/>
              </a:spcAft>
              <a:buClr>
                <a:schemeClr val="dk1"/>
              </a:buClr>
              <a:buFont typeface="Arial"/>
              <a:buNone/>
            </a:pPr>
            <a:r>
              <a:rPr b="1" lang="en-GB">
                <a:latin typeface="Times"/>
                <a:ea typeface="Times"/>
                <a:cs typeface="Times"/>
                <a:sym typeface="Times"/>
              </a:rPr>
              <a:t>System Architecture</a:t>
            </a:r>
            <a:endParaRPr b="1" sz="3500">
              <a:latin typeface="Times"/>
              <a:ea typeface="Times"/>
              <a:cs typeface="Times"/>
              <a:sym typeface="Times"/>
            </a:endParaRPr>
          </a:p>
        </p:txBody>
      </p:sp>
      <p:sp>
        <p:nvSpPr>
          <p:cNvPr id="93" name="Google Shape;93;p17"/>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Frontend: </a:t>
            </a:r>
            <a:r>
              <a:rPr lang="en-GB" sz="1500">
                <a:solidFill>
                  <a:schemeClr val="dk1"/>
                </a:solidFill>
                <a:latin typeface="Times"/>
                <a:ea typeface="Times"/>
                <a:cs typeface="Times"/>
                <a:sym typeface="Times"/>
              </a:rPr>
              <a:t>Streamlit web application (localhost:8501)</a:t>
            </a:r>
            <a:endParaRPr sz="15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Backend: </a:t>
            </a:r>
            <a:r>
              <a:rPr lang="en-GB" sz="1500">
                <a:solidFill>
                  <a:schemeClr val="dk1"/>
                </a:solidFill>
                <a:latin typeface="Times"/>
                <a:ea typeface="Times"/>
                <a:cs typeface="Times"/>
                <a:sym typeface="Times"/>
              </a:rPr>
              <a:t>Python with scikit-learn for ML models</a:t>
            </a:r>
            <a:endParaRPr sz="15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Database: </a:t>
            </a:r>
            <a:r>
              <a:rPr lang="en-GB" sz="1500">
                <a:solidFill>
                  <a:schemeClr val="dk1"/>
                </a:solidFill>
                <a:latin typeface="Times"/>
                <a:ea typeface="Times"/>
                <a:cs typeface="Times"/>
                <a:sym typeface="Times"/>
              </a:rPr>
              <a:t>SQLite for user authentication and management</a:t>
            </a:r>
            <a:endParaRPr sz="15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Models: </a:t>
            </a:r>
            <a:r>
              <a:rPr lang="en-GB" sz="1500">
                <a:solidFill>
                  <a:schemeClr val="dk1"/>
                </a:solidFill>
                <a:latin typeface="Times"/>
                <a:ea typeface="Times"/>
                <a:cs typeface="Times"/>
                <a:sym typeface="Times"/>
              </a:rPr>
              <a:t>Pre-trained Random Forest (saved as .pkl files)</a:t>
            </a:r>
            <a:endParaRPr sz="15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Deployment: </a:t>
            </a:r>
            <a:r>
              <a:rPr lang="en-GB" sz="1500">
                <a:solidFill>
                  <a:schemeClr val="dk1"/>
                </a:solidFill>
                <a:latin typeface="Times"/>
                <a:ea typeface="Times"/>
                <a:cs typeface="Times"/>
                <a:sym typeface="Times"/>
              </a:rPr>
              <a:t>Local server </a:t>
            </a:r>
            <a:endParaRPr sz="15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Libraries: </a:t>
            </a:r>
            <a:r>
              <a:rPr lang="en-GB" sz="1500">
                <a:solidFill>
                  <a:schemeClr val="dk1"/>
                </a:solidFill>
                <a:latin typeface="Times"/>
                <a:ea typeface="Times"/>
                <a:cs typeface="Times"/>
                <a:sym typeface="Times"/>
              </a:rPr>
              <a:t>pandas, numpy, joblib, streamlit</a:t>
            </a:r>
            <a:endParaRPr sz="1500">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flipH="1">
            <a:off x="8832250" y="445025"/>
            <a:ext cx="86100" cy="518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t>
            </a:r>
            <a:endParaRPr/>
          </a:p>
        </p:txBody>
      </p:sp>
      <p:sp>
        <p:nvSpPr>
          <p:cNvPr id="99" name="Google Shape;99;p18"/>
          <p:cNvSpPr txBox="1"/>
          <p:nvPr>
            <p:ph idx="1" type="body"/>
          </p:nvPr>
        </p:nvSpPr>
        <p:spPr>
          <a:xfrm>
            <a:off x="8101925" y="1152475"/>
            <a:ext cx="7305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t>
            </a:r>
            <a:endParaRPr/>
          </a:p>
        </p:txBody>
      </p:sp>
      <p:pic>
        <p:nvPicPr>
          <p:cNvPr id="100" name="Google Shape;100;p18" title="image.png"/>
          <p:cNvPicPr preferRelativeResize="0"/>
          <p:nvPr/>
        </p:nvPicPr>
        <p:blipFill rotWithShape="1">
          <a:blip r:embed="rId3">
            <a:alphaModFix/>
          </a:blip>
          <a:srcRect b="9942" l="27132" r="25673" t="0"/>
          <a:stretch/>
        </p:blipFill>
        <p:spPr>
          <a:xfrm>
            <a:off x="2305413" y="0"/>
            <a:ext cx="4533174" cy="5035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8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latin typeface="Times"/>
                <a:ea typeface="Times"/>
                <a:cs typeface="Times"/>
                <a:sym typeface="Times"/>
              </a:rPr>
              <a:t>Machine Learning Model </a:t>
            </a:r>
            <a:r>
              <a:rPr b="1" lang="en-GB" sz="2400">
                <a:latin typeface="Times"/>
                <a:ea typeface="Times"/>
                <a:cs typeface="Times"/>
                <a:sym typeface="Times"/>
              </a:rPr>
              <a:t>                                                 </a:t>
            </a:r>
            <a:endParaRPr b="1">
              <a:latin typeface="Times"/>
              <a:ea typeface="Times"/>
              <a:cs typeface="Times"/>
              <a:sym typeface="Times"/>
            </a:endParaRPr>
          </a:p>
        </p:txBody>
      </p:sp>
      <p:sp>
        <p:nvSpPr>
          <p:cNvPr id="106" name="Google Shape;106;p19"/>
          <p:cNvSpPr txBox="1"/>
          <p:nvPr>
            <p:ph idx="1" type="body"/>
          </p:nvPr>
        </p:nvSpPr>
        <p:spPr>
          <a:xfrm>
            <a:off x="490575" y="1299725"/>
            <a:ext cx="8280900" cy="3671700"/>
          </a:xfrm>
          <a:prstGeom prst="rect">
            <a:avLst/>
          </a:prstGeom>
        </p:spPr>
        <p:txBody>
          <a:bodyPr anchorCtr="0" anchor="t" bIns="91425" lIns="91425" spcFirstLastPara="1" rIns="91425" wrap="square" tIns="91425">
            <a:normAutofit fontScale="25000"/>
          </a:bodyPr>
          <a:lstStyle/>
          <a:p>
            <a:pPr indent="0" lvl="0" marL="0" rtl="0" algn="l">
              <a:lnSpc>
                <a:spcPct val="100000"/>
              </a:lnSpc>
              <a:spcBef>
                <a:spcPts val="0"/>
              </a:spcBef>
              <a:spcAft>
                <a:spcPts val="0"/>
              </a:spcAft>
              <a:buClr>
                <a:schemeClr val="dk1"/>
              </a:buClr>
              <a:buSzPts val="275"/>
              <a:buFont typeface="Arial"/>
              <a:buNone/>
            </a:pPr>
            <a:r>
              <a:rPr b="1" lang="en-GB" sz="6738">
                <a:solidFill>
                  <a:schemeClr val="dk1"/>
                </a:solidFill>
                <a:latin typeface="Times"/>
                <a:ea typeface="Times"/>
                <a:cs typeface="Times"/>
                <a:sym typeface="Times"/>
              </a:rPr>
              <a:t>Algorithm: Random Forest Regressor  </a:t>
            </a:r>
            <a:endParaRPr b="1" sz="6738">
              <a:solidFill>
                <a:schemeClr val="dk1"/>
              </a:solidFill>
              <a:latin typeface="Times"/>
              <a:ea typeface="Times"/>
              <a:cs typeface="Times"/>
              <a:sym typeface="Times"/>
            </a:endParaRPr>
          </a:p>
          <a:p>
            <a:pPr indent="0" lvl="0" marL="0" rtl="0" algn="just">
              <a:lnSpc>
                <a:spcPct val="251428"/>
              </a:lnSpc>
              <a:spcBef>
                <a:spcPts val="0"/>
              </a:spcBef>
              <a:spcAft>
                <a:spcPts val="0"/>
              </a:spcAft>
              <a:buNone/>
            </a:pPr>
            <a:r>
              <a:t/>
            </a:r>
            <a:endParaRPr sz="4624">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4624">
                <a:solidFill>
                  <a:schemeClr val="dk1"/>
                </a:solidFill>
                <a:latin typeface="Times"/>
                <a:ea typeface="Times"/>
                <a:cs typeface="Times"/>
                <a:sym typeface="Times"/>
              </a:rPr>
              <a:t>  </a:t>
            </a:r>
            <a:r>
              <a:rPr b="1" lang="en-GB" sz="4013">
                <a:solidFill>
                  <a:schemeClr val="dk1"/>
                </a:solidFill>
                <a:latin typeface="Times"/>
                <a:ea typeface="Times"/>
                <a:cs typeface="Times"/>
                <a:sym typeface="Times"/>
              </a:rPr>
              <a:t>•</a:t>
            </a:r>
            <a:r>
              <a:rPr b="1" lang="en-GB" sz="6444">
                <a:solidFill>
                  <a:schemeClr val="dk1"/>
                </a:solidFill>
                <a:latin typeface="Times"/>
                <a:ea typeface="Times"/>
                <a:cs typeface="Times"/>
                <a:sym typeface="Times"/>
              </a:rPr>
              <a:t>    Advantages: </a:t>
            </a:r>
            <a:r>
              <a:rPr lang="en-GB" sz="6444">
                <a:solidFill>
                  <a:schemeClr val="dk1"/>
                </a:solidFill>
                <a:latin typeface="Times"/>
                <a:ea typeface="Times"/>
                <a:cs typeface="Times"/>
                <a:sym typeface="Times"/>
              </a:rPr>
              <a:t>Handles non-linear relationships, robust to outliers</a:t>
            </a:r>
            <a:endParaRPr sz="6444">
              <a:solidFill>
                <a:schemeClr val="dk1"/>
              </a:solidFill>
              <a:latin typeface="Times"/>
              <a:ea typeface="Times"/>
              <a:cs typeface="Times"/>
              <a:sym typeface="Times"/>
            </a:endParaRPr>
          </a:p>
          <a:p>
            <a:pPr indent="0" lvl="0" marL="128016" rtl="0" algn="just">
              <a:lnSpc>
                <a:spcPct val="251428"/>
              </a:lnSpc>
              <a:spcBef>
                <a:spcPts val="0"/>
              </a:spcBef>
              <a:spcAft>
                <a:spcPts val="0"/>
              </a:spcAft>
              <a:buClr>
                <a:schemeClr val="dk1"/>
              </a:buClr>
              <a:buFont typeface="Arial"/>
              <a:buNone/>
            </a:pPr>
            <a:r>
              <a:rPr b="1" lang="en-GB" sz="6444">
                <a:solidFill>
                  <a:schemeClr val="dk1"/>
                </a:solidFill>
                <a:latin typeface="Times"/>
                <a:ea typeface="Times"/>
                <a:cs typeface="Times"/>
                <a:sym typeface="Times"/>
              </a:rPr>
              <a:t>•    Hyperparameters: </a:t>
            </a:r>
            <a:r>
              <a:rPr lang="en-GB" sz="6444">
                <a:solidFill>
                  <a:schemeClr val="dk1"/>
                </a:solidFill>
                <a:latin typeface="Times"/>
                <a:ea typeface="Times"/>
                <a:cs typeface="Times"/>
                <a:sym typeface="Times"/>
              </a:rPr>
              <a:t>200 estimators, max depth 15, random state 42</a:t>
            </a:r>
            <a:endParaRPr sz="6444">
              <a:solidFill>
                <a:schemeClr val="dk1"/>
              </a:solidFill>
              <a:latin typeface="Times"/>
              <a:ea typeface="Times"/>
              <a:cs typeface="Times"/>
              <a:sym typeface="Times"/>
            </a:endParaRPr>
          </a:p>
          <a:p>
            <a:pPr indent="0" lvl="0" marL="128016" rtl="0" algn="just">
              <a:lnSpc>
                <a:spcPct val="251428"/>
              </a:lnSpc>
              <a:spcBef>
                <a:spcPts val="0"/>
              </a:spcBef>
              <a:spcAft>
                <a:spcPts val="0"/>
              </a:spcAft>
              <a:buClr>
                <a:schemeClr val="dk1"/>
              </a:buClr>
              <a:buFont typeface="Arial"/>
              <a:buNone/>
            </a:pPr>
            <a:r>
              <a:rPr b="1" lang="en-GB" sz="6444">
                <a:solidFill>
                  <a:schemeClr val="dk1"/>
                </a:solidFill>
                <a:latin typeface="Times"/>
                <a:ea typeface="Times"/>
                <a:cs typeface="Times"/>
                <a:sym typeface="Times"/>
              </a:rPr>
              <a:t>•    Training Data: </a:t>
            </a:r>
            <a:r>
              <a:rPr lang="en-GB" sz="6444">
                <a:solidFill>
                  <a:schemeClr val="dk1"/>
                </a:solidFill>
                <a:latin typeface="Times"/>
                <a:ea typeface="Times"/>
                <a:cs typeface="Times"/>
                <a:sym typeface="Times"/>
              </a:rPr>
              <a:t>80% (8,000 records)</a:t>
            </a:r>
            <a:endParaRPr sz="6444">
              <a:solidFill>
                <a:schemeClr val="dk1"/>
              </a:solidFill>
              <a:latin typeface="Times"/>
              <a:ea typeface="Times"/>
              <a:cs typeface="Times"/>
              <a:sym typeface="Times"/>
            </a:endParaRPr>
          </a:p>
          <a:p>
            <a:pPr indent="0" lvl="0" marL="128016" rtl="0" algn="just">
              <a:lnSpc>
                <a:spcPct val="251428"/>
              </a:lnSpc>
              <a:spcBef>
                <a:spcPts val="0"/>
              </a:spcBef>
              <a:spcAft>
                <a:spcPts val="0"/>
              </a:spcAft>
              <a:buClr>
                <a:schemeClr val="dk1"/>
              </a:buClr>
              <a:buFont typeface="Arial"/>
              <a:buNone/>
            </a:pPr>
            <a:r>
              <a:rPr b="1" lang="en-GB" sz="6444">
                <a:solidFill>
                  <a:schemeClr val="dk1"/>
                </a:solidFill>
                <a:latin typeface="Times"/>
                <a:ea typeface="Times"/>
                <a:cs typeface="Times"/>
                <a:sym typeface="Times"/>
              </a:rPr>
              <a:t>•    Test Data: </a:t>
            </a:r>
            <a:r>
              <a:rPr lang="en-GB" sz="6444">
                <a:solidFill>
                  <a:schemeClr val="dk1"/>
                </a:solidFill>
                <a:latin typeface="Times"/>
                <a:ea typeface="Times"/>
                <a:cs typeface="Times"/>
                <a:sym typeface="Times"/>
              </a:rPr>
              <a:t>20% (2,000 records)</a:t>
            </a:r>
            <a:endParaRPr sz="6444">
              <a:solidFill>
                <a:schemeClr val="dk1"/>
              </a:solidFill>
              <a:latin typeface="Times"/>
              <a:ea typeface="Times"/>
              <a:cs typeface="Times"/>
              <a:sym typeface="Times"/>
            </a:endParaRPr>
          </a:p>
          <a:p>
            <a:pPr indent="0" lvl="0" marL="0" rtl="0" algn="l">
              <a:spcBef>
                <a:spcPts val="0"/>
              </a:spcBef>
              <a:spcAft>
                <a:spcPts val="120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User Interface Demo</a:t>
            </a:r>
            <a:endParaRPr>
              <a:latin typeface="Times"/>
              <a:ea typeface="Times"/>
              <a:cs typeface="Times"/>
              <a:sym typeface="Times"/>
            </a:endParaRPr>
          </a:p>
          <a:p>
            <a:pPr indent="0" lvl="0" marL="0" rtl="0" algn="l">
              <a:spcBef>
                <a:spcPts val="0"/>
              </a:spcBef>
              <a:spcAft>
                <a:spcPts val="0"/>
              </a:spcAft>
              <a:buNone/>
            </a:pPr>
            <a:r>
              <a:t/>
            </a:r>
            <a:endParaRPr/>
          </a:p>
        </p:txBody>
      </p:sp>
      <p:sp>
        <p:nvSpPr>
          <p:cNvPr id="112" name="Google Shape;112;p20"/>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0" title="Screenshot 2025-12-12 172054.png"/>
          <p:cNvPicPr preferRelativeResize="0"/>
          <p:nvPr/>
        </p:nvPicPr>
        <p:blipFill>
          <a:blip r:embed="rId3">
            <a:alphaModFix/>
          </a:blip>
          <a:stretch>
            <a:fillRect/>
          </a:stretch>
        </p:blipFill>
        <p:spPr>
          <a:xfrm>
            <a:off x="311700" y="1152475"/>
            <a:ext cx="8520602" cy="3592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Estimated Bill Ranges</a:t>
            </a:r>
            <a:endParaRPr>
              <a:latin typeface="Times"/>
              <a:ea typeface="Times"/>
              <a:cs typeface="Times"/>
              <a:sym typeface="Times"/>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1254275"/>
            <a:ext cx="8520600" cy="3314700"/>
          </a:xfrm>
          <a:prstGeom prst="rect">
            <a:avLst/>
          </a:prstGeom>
        </p:spPr>
        <p:txBody>
          <a:bodyPr anchorCtr="0" anchor="t" bIns="91425" lIns="91425" spcFirstLastPara="1" rIns="91425" wrap="square" tIns="91425">
            <a:normAutofit/>
          </a:bodyPr>
          <a:lstStyle/>
          <a:p>
            <a:pPr indent="0" lvl="0" marL="112776" rtl="0" algn="just">
              <a:lnSpc>
                <a:spcPct val="251428"/>
              </a:lnSpc>
              <a:spcBef>
                <a:spcPts val="1680"/>
              </a:spcBef>
              <a:spcAft>
                <a:spcPts val="0"/>
              </a:spcAft>
              <a:buClr>
                <a:schemeClr val="dk1"/>
              </a:buClr>
              <a:buFont typeface="Arial"/>
              <a:buNone/>
            </a:pPr>
            <a:r>
              <a:rPr b="1" lang="en-GB" sz="1500">
                <a:solidFill>
                  <a:schemeClr val="dk1"/>
                </a:solidFill>
                <a:latin typeface="Times"/>
                <a:ea typeface="Times"/>
                <a:cs typeface="Times"/>
                <a:sym typeface="Times"/>
              </a:rPr>
              <a:t>•    Basic Home (no AC/geyser): </a:t>
            </a:r>
            <a:r>
              <a:rPr lang="en-GB" sz="1500">
                <a:solidFill>
                  <a:schemeClr val="dk1"/>
                </a:solidFill>
                <a:latin typeface="Times"/>
                <a:ea typeface="Times"/>
                <a:cs typeface="Times"/>
                <a:sym typeface="Times"/>
              </a:rPr>
              <a:t>^250-^1,200/month (avg. ^850)</a:t>
            </a:r>
            <a:endParaRPr sz="1500">
              <a:solidFill>
                <a:schemeClr val="dk1"/>
              </a:solidFill>
              <a:latin typeface="Times"/>
              <a:ea typeface="Times"/>
              <a:cs typeface="Times"/>
              <a:sym typeface="Times"/>
            </a:endParaRPr>
          </a:p>
          <a:p>
            <a:pPr indent="0" lvl="0" marL="112776"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Middle-Class (1 AC, 1 geyser): </a:t>
            </a:r>
            <a:r>
              <a:rPr lang="en-GB" sz="1500">
                <a:solidFill>
                  <a:schemeClr val="dk1"/>
                </a:solidFill>
                <a:latin typeface="Times"/>
                <a:ea typeface="Times"/>
                <a:cs typeface="Times"/>
                <a:sym typeface="Times"/>
              </a:rPr>
              <a:t>^2,500-^3,500/month (avg. ^2,800)</a:t>
            </a:r>
            <a:endParaRPr sz="1500">
              <a:solidFill>
                <a:schemeClr val="dk1"/>
              </a:solidFill>
              <a:latin typeface="Times"/>
              <a:ea typeface="Times"/>
              <a:cs typeface="Times"/>
              <a:sym typeface="Times"/>
            </a:endParaRPr>
          </a:p>
          <a:p>
            <a:pPr indent="0" lvl="0" marL="112776" rtl="0" algn="just">
              <a:lnSpc>
                <a:spcPct val="251428"/>
              </a:lnSpc>
              <a:spcBef>
                <a:spcPts val="0"/>
              </a:spcBef>
              <a:spcAft>
                <a:spcPts val="0"/>
              </a:spcAft>
              <a:buClr>
                <a:schemeClr val="dk1"/>
              </a:buClr>
              <a:buFont typeface="Arial"/>
              <a:buNone/>
            </a:pPr>
            <a:r>
              <a:rPr b="1" lang="en-GB" sz="1500">
                <a:solidFill>
                  <a:schemeClr val="dk1"/>
                </a:solidFill>
                <a:latin typeface="Times"/>
                <a:ea typeface="Times"/>
                <a:cs typeface="Times"/>
                <a:sym typeface="Times"/>
              </a:rPr>
              <a:t>•    Large Family (2+ ACs, geyser): </a:t>
            </a:r>
            <a:r>
              <a:rPr lang="en-GB" sz="1500">
                <a:solidFill>
                  <a:schemeClr val="dk1"/>
                </a:solidFill>
                <a:latin typeface="Times"/>
                <a:ea typeface="Times"/>
                <a:cs typeface="Times"/>
                <a:sym typeface="Times"/>
              </a:rPr>
              <a:t>^3,500-^5,000+/month (avg. ^4,200)</a:t>
            </a:r>
            <a:endParaRPr sz="1500">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Times"/>
                <a:ea typeface="Times"/>
                <a:cs typeface="Times"/>
                <a:sym typeface="Times"/>
              </a:rPr>
              <a:t>PREDICTED RESULT</a:t>
            </a:r>
            <a:br>
              <a:rPr lang="en-GB">
                <a:latin typeface="Times"/>
                <a:ea typeface="Times"/>
                <a:cs typeface="Times"/>
                <a:sym typeface="Times"/>
              </a:rPr>
            </a:br>
            <a:endParaRPr>
              <a:latin typeface="Times"/>
              <a:ea typeface="Times"/>
              <a:cs typeface="Times"/>
              <a:sym typeface="Times"/>
            </a:endParaRPr>
          </a:p>
        </p:txBody>
      </p:sp>
      <p:sp>
        <p:nvSpPr>
          <p:cNvPr id="125" name="Google Shape;125;p22"/>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6" name="Google Shape;126;p22" title="Screenshot 2025-12-12 202622.png"/>
          <p:cNvPicPr preferRelativeResize="0"/>
          <p:nvPr/>
        </p:nvPicPr>
        <p:blipFill>
          <a:blip r:embed="rId3">
            <a:alphaModFix/>
          </a:blip>
          <a:stretch>
            <a:fillRect/>
          </a:stretch>
        </p:blipFill>
        <p:spPr>
          <a:xfrm>
            <a:off x="311700" y="1451725"/>
            <a:ext cx="8520602" cy="3150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21174"/>
            <a:ext cx="85206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3500">
              <a:latin typeface="Times"/>
              <a:ea typeface="Times"/>
              <a:cs typeface="Times"/>
              <a:sym typeface="Times"/>
            </a:endParaRPr>
          </a:p>
          <a:p>
            <a:pPr indent="0" lvl="0" marL="0" rtl="0" algn="l">
              <a:spcBef>
                <a:spcPts val="0"/>
              </a:spcBef>
              <a:spcAft>
                <a:spcPts val="0"/>
              </a:spcAft>
              <a:buClr>
                <a:schemeClr val="dk1"/>
              </a:buClr>
              <a:buFont typeface="Arial"/>
              <a:buNone/>
            </a:pPr>
            <a:r>
              <a:t/>
            </a:r>
            <a:endParaRPr sz="3500">
              <a:solidFill>
                <a:srgbClr val="000000"/>
              </a:solidFill>
              <a:latin typeface="Times"/>
              <a:ea typeface="Times"/>
              <a:cs typeface="Times"/>
              <a:sym typeface="Times"/>
            </a:endParaRPr>
          </a:p>
        </p:txBody>
      </p:sp>
      <p:sp>
        <p:nvSpPr>
          <p:cNvPr id="132" name="Google Shape;132;p23"/>
          <p:cNvSpPr txBox="1"/>
          <p:nvPr>
            <p:ph idx="1" type="body"/>
          </p:nvPr>
        </p:nvSpPr>
        <p:spPr>
          <a:xfrm>
            <a:off x="537625" y="1152475"/>
            <a:ext cx="8294700" cy="314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3" name="Google Shape;133;p23" title="Screenshot 2025-12-12 172933.png"/>
          <p:cNvPicPr preferRelativeResize="0"/>
          <p:nvPr/>
        </p:nvPicPr>
        <p:blipFill>
          <a:blip r:embed="rId3">
            <a:alphaModFix/>
          </a:blip>
          <a:stretch>
            <a:fillRect/>
          </a:stretch>
        </p:blipFill>
        <p:spPr>
          <a:xfrm>
            <a:off x="537625" y="186275"/>
            <a:ext cx="8407401" cy="4533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Application Features</a:t>
            </a:r>
            <a:endParaRPr b="1">
              <a:latin typeface="Times"/>
              <a:ea typeface="Times"/>
              <a:cs typeface="Times"/>
              <a:sym typeface="Times"/>
            </a:endParaRPr>
          </a:p>
          <a:p>
            <a:pPr indent="0" lvl="0" marL="0" rtl="0" algn="l">
              <a:spcBef>
                <a:spcPts val="0"/>
              </a:spcBef>
              <a:spcAft>
                <a:spcPts val="0"/>
              </a:spcAft>
              <a:buNone/>
            </a:pPr>
            <a:r>
              <a:t/>
            </a:r>
            <a:endParaRPr b="1">
              <a:latin typeface="Times"/>
              <a:ea typeface="Times"/>
              <a:cs typeface="Times"/>
              <a:sym typeface="Times"/>
            </a:endParaRPr>
          </a:p>
        </p:txBody>
      </p:sp>
      <p:sp>
        <p:nvSpPr>
          <p:cNvPr id="139" name="Google Shape;139;p24"/>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User authentication system with SQLite database backend</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Quick preset scenarios (Basic, Middle-Class, Large Family homes)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Interactive input forms with real-time validation</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Real-time voltage and bill predictions (&lt;10ms)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Sidebar summary showing current inputs and last predictions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a:t>
            </a:r>
            <a:r>
              <a:rPr lang="en-GB" sz="1050">
                <a:solidFill>
                  <a:srgbClr val="475569"/>
                </a:solidFill>
              </a:rPr>
              <a:t> </a:t>
            </a:r>
            <a:r>
              <a:rPr lang="en-GB" sz="1450">
                <a:solidFill>
                  <a:schemeClr val="dk1"/>
                </a:solidFill>
                <a:latin typeface="Times"/>
                <a:ea typeface="Times"/>
                <a:cs typeface="Times"/>
                <a:sym typeface="Times"/>
              </a:rPr>
              <a:t>Estimated</a:t>
            </a:r>
            <a:r>
              <a:rPr lang="en-GB" sz="1400">
                <a:solidFill>
                  <a:schemeClr val="dk1"/>
                </a:solidFill>
                <a:latin typeface="Times"/>
                <a:ea typeface="Times"/>
                <a:cs typeface="Times"/>
                <a:sym typeface="Times"/>
              </a:rPr>
              <a:t> kWh usage and detailed bill breakdown analysis</a:t>
            </a:r>
            <a:endParaRPr sz="1400">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a:latin typeface="Times"/>
                <a:ea typeface="Times"/>
                <a:cs typeface="Times"/>
                <a:sym typeface="Times"/>
              </a:rPr>
              <a:t>Technical Stack</a:t>
            </a:r>
            <a:endParaRPr b="1">
              <a:latin typeface="Times"/>
              <a:ea typeface="Times"/>
              <a:cs typeface="Times"/>
              <a:sym typeface="Times"/>
            </a:endParaRPr>
          </a:p>
          <a:p>
            <a:pPr indent="0" lvl="0" marL="0" rtl="0" algn="l">
              <a:spcBef>
                <a:spcPts val="0"/>
              </a:spcBef>
              <a:spcAft>
                <a:spcPts val="0"/>
              </a:spcAft>
              <a:buNone/>
            </a:pPr>
            <a:r>
              <a:t/>
            </a:r>
            <a:endParaRPr/>
          </a:p>
        </p:txBody>
      </p:sp>
      <p:sp>
        <p:nvSpPr>
          <p:cNvPr id="145" name="Google Shape;145;p25"/>
          <p:cNvSpPr txBox="1"/>
          <p:nvPr>
            <p:ph idx="1" type="body"/>
          </p:nvPr>
        </p:nvSpPr>
        <p:spPr>
          <a:xfrm>
            <a:off x="824375" y="1152475"/>
            <a:ext cx="8007900" cy="3773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Font typeface="Arial"/>
              <a:buNone/>
            </a:pPr>
            <a:r>
              <a:rPr b="1" lang="en-GB" sz="1300">
                <a:solidFill>
                  <a:schemeClr val="dk1"/>
                </a:solidFill>
                <a:latin typeface="Times"/>
                <a:ea typeface="Times"/>
                <a:cs typeface="Times"/>
                <a:sym typeface="Times"/>
              </a:rPr>
              <a:t>Frontend</a:t>
            </a:r>
            <a:endParaRPr sz="1300">
              <a:solidFill>
                <a:schemeClr val="dk1"/>
              </a:solidFill>
              <a:latin typeface="Times"/>
              <a:ea typeface="Times"/>
              <a:cs typeface="Times"/>
              <a:sym typeface="Times"/>
            </a:endParaRPr>
          </a:p>
          <a:p>
            <a:pPr indent="-311150" lvl="0" marL="457200" rtl="0" algn="l">
              <a:lnSpc>
                <a:spcPct val="156631"/>
              </a:lnSpc>
              <a:spcBef>
                <a:spcPts val="420"/>
              </a:spcBef>
              <a:spcAft>
                <a:spcPts val="0"/>
              </a:spcAft>
              <a:buClr>
                <a:schemeClr val="dk1"/>
              </a:buClr>
              <a:buSzPts val="1300"/>
              <a:buFont typeface="Times"/>
              <a:buChar char="●"/>
            </a:pPr>
            <a:r>
              <a:rPr lang="en-GB" sz="1300">
                <a:solidFill>
                  <a:schemeClr val="dk1"/>
                </a:solidFill>
                <a:latin typeface="Times"/>
                <a:ea typeface="Times"/>
                <a:cs typeface="Times"/>
                <a:sym typeface="Times"/>
              </a:rPr>
              <a:t>Streamlit 1.38+ </a:t>
            </a:r>
            <a:endParaRPr sz="1300">
              <a:solidFill>
                <a:schemeClr val="dk1"/>
              </a:solidFill>
              <a:latin typeface="Times"/>
              <a:ea typeface="Times"/>
              <a:cs typeface="Times"/>
              <a:sym typeface="Times"/>
            </a:endParaRPr>
          </a:p>
          <a:p>
            <a:pPr indent="-311150" lvl="0" marL="457200" rtl="0" algn="l">
              <a:lnSpc>
                <a:spcPct val="156631"/>
              </a:lnSpc>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HTML/CSS/JavaScript </a:t>
            </a:r>
            <a:endParaRPr sz="1300">
              <a:solidFill>
                <a:schemeClr val="dk1"/>
              </a:solidFill>
              <a:latin typeface="Times"/>
              <a:ea typeface="Times"/>
              <a:cs typeface="Times"/>
              <a:sym typeface="Times"/>
            </a:endParaRPr>
          </a:p>
          <a:p>
            <a:pPr indent="-311150" lvl="0" marL="457200" rtl="0" algn="l">
              <a:lnSpc>
                <a:spcPct val="156631"/>
              </a:lnSpc>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Responsive design</a:t>
            </a:r>
            <a:endParaRPr sz="1300">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b="1" lang="en-GB" sz="1300">
                <a:solidFill>
                  <a:schemeClr val="dk1"/>
                </a:solidFill>
                <a:latin typeface="Times"/>
                <a:ea typeface="Times"/>
                <a:cs typeface="Times"/>
                <a:sym typeface="Times"/>
              </a:rPr>
              <a:t>ML &amp; Data</a:t>
            </a:r>
            <a:endParaRPr sz="1300">
              <a:solidFill>
                <a:schemeClr val="dk1"/>
              </a:solidFill>
              <a:latin typeface="Times"/>
              <a:ea typeface="Times"/>
              <a:cs typeface="Times"/>
              <a:sym typeface="Times"/>
            </a:endParaRPr>
          </a:p>
          <a:p>
            <a:pPr indent="-311150" lvl="0" marL="457200" rtl="0" algn="l">
              <a:lnSpc>
                <a:spcPct val="159157"/>
              </a:lnSpc>
              <a:spcBef>
                <a:spcPts val="420"/>
              </a:spcBef>
              <a:spcAft>
                <a:spcPts val="0"/>
              </a:spcAft>
              <a:buClr>
                <a:schemeClr val="dk1"/>
              </a:buClr>
              <a:buSzPts val="1300"/>
              <a:buFont typeface="Times"/>
              <a:buChar char="●"/>
            </a:pPr>
            <a:r>
              <a:rPr lang="en-GB" sz="1300">
                <a:solidFill>
                  <a:schemeClr val="dk1"/>
                </a:solidFill>
                <a:latin typeface="Times"/>
                <a:ea typeface="Times"/>
                <a:cs typeface="Times"/>
                <a:sym typeface="Times"/>
              </a:rPr>
              <a:t>scikit-learn 1.5+</a:t>
            </a:r>
            <a:endParaRPr sz="1300">
              <a:solidFill>
                <a:schemeClr val="dk1"/>
              </a:solidFill>
              <a:latin typeface="Times"/>
              <a:ea typeface="Times"/>
              <a:cs typeface="Times"/>
              <a:sym typeface="Times"/>
            </a:endParaRPr>
          </a:p>
          <a:p>
            <a:pPr indent="-311150" lvl="0" marL="457200" rtl="0" algn="l">
              <a:lnSpc>
                <a:spcPct val="159157"/>
              </a:lnSpc>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pandas, numpy </a:t>
            </a:r>
            <a:endParaRPr sz="1300">
              <a:solidFill>
                <a:schemeClr val="dk1"/>
              </a:solidFill>
              <a:latin typeface="Times"/>
              <a:ea typeface="Times"/>
              <a:cs typeface="Times"/>
              <a:sym typeface="Times"/>
            </a:endParaRPr>
          </a:p>
          <a:p>
            <a:pPr indent="-311150" lvl="0" marL="457200" rtl="0" algn="l">
              <a:lnSpc>
                <a:spcPct val="159157"/>
              </a:lnSpc>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joblib (model save)</a:t>
            </a:r>
            <a:endParaRPr sz="1300">
              <a:solidFill>
                <a:schemeClr val="dk1"/>
              </a:solidFill>
              <a:latin typeface="Times"/>
              <a:ea typeface="Times"/>
              <a:cs typeface="Times"/>
              <a:sym typeface="Times"/>
            </a:endParaRPr>
          </a:p>
          <a:p>
            <a:pPr indent="0" lvl="0" marL="0" rtl="0" algn="l">
              <a:lnSpc>
                <a:spcPct val="100000"/>
              </a:lnSpc>
              <a:spcBef>
                <a:spcPts val="0"/>
              </a:spcBef>
              <a:spcAft>
                <a:spcPts val="0"/>
              </a:spcAft>
              <a:buNone/>
            </a:pPr>
            <a:r>
              <a:rPr b="1" lang="en-GB" sz="1300">
                <a:solidFill>
                  <a:schemeClr val="dk1"/>
                </a:solidFill>
                <a:latin typeface="Times"/>
                <a:ea typeface="Times"/>
                <a:cs typeface="Times"/>
                <a:sym typeface="Times"/>
              </a:rPr>
              <a:t>Database &amp; Deployment</a:t>
            </a:r>
            <a:endParaRPr sz="1300">
              <a:solidFill>
                <a:schemeClr val="dk1"/>
              </a:solidFill>
              <a:latin typeface="Times"/>
              <a:ea typeface="Times"/>
              <a:cs typeface="Times"/>
              <a:sym typeface="Times"/>
            </a:endParaRPr>
          </a:p>
          <a:p>
            <a:pPr indent="-311150" lvl="0" marL="457200" rtl="0" algn="l">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SQLite3</a:t>
            </a:r>
            <a:endParaRPr sz="1300">
              <a:solidFill>
                <a:schemeClr val="dk1"/>
              </a:solidFill>
              <a:latin typeface="Times"/>
              <a:ea typeface="Times"/>
              <a:cs typeface="Times"/>
              <a:sym typeface="Times"/>
            </a:endParaRPr>
          </a:p>
          <a:p>
            <a:pPr indent="-311150" lvl="0" marL="457200" rtl="0" algn="l">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Python 3.8+</a:t>
            </a:r>
            <a:endParaRPr sz="1300">
              <a:solidFill>
                <a:schemeClr val="dk1"/>
              </a:solidFill>
              <a:latin typeface="Times"/>
              <a:ea typeface="Times"/>
              <a:cs typeface="Times"/>
              <a:sym typeface="Times"/>
            </a:endParaRPr>
          </a:p>
          <a:p>
            <a:pPr indent="-311150" lvl="0" marL="457200" rtl="0" algn="l">
              <a:spcBef>
                <a:spcPts val="0"/>
              </a:spcBef>
              <a:spcAft>
                <a:spcPts val="0"/>
              </a:spcAft>
              <a:buClr>
                <a:schemeClr val="dk1"/>
              </a:buClr>
              <a:buSzPts val="1300"/>
              <a:buFont typeface="Times"/>
              <a:buChar char="●"/>
            </a:pPr>
            <a:r>
              <a:rPr lang="en-GB" sz="1300">
                <a:solidFill>
                  <a:schemeClr val="dk1"/>
                </a:solidFill>
                <a:latin typeface="Times"/>
                <a:ea typeface="Times"/>
                <a:cs typeface="Times"/>
                <a:sym typeface="Times"/>
              </a:rPr>
              <a:t> local serve,</a:t>
            </a:r>
            <a:endParaRPr sz="1300">
              <a:solidFill>
                <a:schemeClr val="dk1"/>
              </a:solidFill>
              <a:latin typeface="Times"/>
              <a:ea typeface="Times"/>
              <a:cs typeface="Times"/>
              <a:sym typeface="Times"/>
            </a:endParaRPr>
          </a:p>
          <a:p>
            <a:pPr indent="-311150" lvl="0" marL="457200" rtl="0" algn="l">
              <a:spcBef>
                <a:spcPts val="0"/>
              </a:spcBef>
              <a:spcAft>
                <a:spcPts val="0"/>
              </a:spcAft>
              <a:buClr>
                <a:schemeClr val="dk1"/>
              </a:buClr>
              <a:buSzPts val="1300"/>
              <a:buChar char="●"/>
            </a:pPr>
            <a:r>
              <a:rPr lang="en-GB" sz="1300">
                <a:solidFill>
                  <a:schemeClr val="dk1"/>
                </a:solidFill>
                <a:latin typeface="Times"/>
                <a:ea typeface="Times"/>
                <a:cs typeface="Times"/>
                <a:sym typeface="Times"/>
              </a:rPr>
              <a:t>.pkl model files,</a:t>
            </a:r>
            <a:endParaRPr sz="1300">
              <a:solidFill>
                <a:schemeClr val="dk1"/>
              </a:solidFill>
              <a:latin typeface="Times"/>
              <a:ea typeface="Times"/>
              <a:cs typeface="Times"/>
              <a:sym typeface="Time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sz="2600">
                <a:latin typeface="Times"/>
                <a:ea typeface="Times"/>
                <a:cs typeface="Times"/>
                <a:sym typeface="Times"/>
              </a:rPr>
              <a:t>Future Enhancements (Roadmap)</a:t>
            </a:r>
            <a:endParaRPr sz="2600">
              <a:latin typeface="Times"/>
              <a:ea typeface="Times"/>
              <a:cs typeface="Times"/>
              <a:sym typeface="Times"/>
            </a:endParaRPr>
          </a:p>
          <a:p>
            <a:pPr indent="0" lvl="0" marL="0" rtl="0" algn="l">
              <a:spcBef>
                <a:spcPts val="0"/>
              </a:spcBef>
              <a:spcAft>
                <a:spcPts val="0"/>
              </a:spcAft>
              <a:buNone/>
            </a:pPr>
            <a:r>
              <a:t/>
            </a:r>
            <a:endParaRPr/>
          </a:p>
        </p:txBody>
      </p:sp>
      <p:sp>
        <p:nvSpPr>
          <p:cNvPr id="151" name="Google Shape;151;p26"/>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just">
              <a:lnSpc>
                <a:spcPct val="251428"/>
              </a:lnSpc>
              <a:spcBef>
                <a:spcPts val="0"/>
              </a:spcBef>
              <a:spcAft>
                <a:spcPts val="0"/>
              </a:spcAft>
              <a:buClr>
                <a:schemeClr val="dk1"/>
              </a:buClr>
              <a:buFont typeface="Arial"/>
              <a:buNone/>
            </a:pPr>
            <a:r>
              <a:rPr b="1" lang="en-GB" sz="1400">
                <a:solidFill>
                  <a:schemeClr val="dk1"/>
                </a:solidFill>
                <a:latin typeface="Times"/>
                <a:ea typeface="Times"/>
                <a:cs typeface="Times"/>
                <a:sym typeface="Times"/>
              </a:rPr>
              <a:t>•    Phase 2: </a:t>
            </a:r>
            <a:r>
              <a:rPr lang="en-GB" sz="1400">
                <a:solidFill>
                  <a:schemeClr val="dk1"/>
                </a:solidFill>
                <a:latin typeface="Times"/>
                <a:ea typeface="Times"/>
                <a:cs typeface="Times"/>
                <a:sym typeface="Times"/>
              </a:rPr>
              <a:t>Real smart meter data integration, time-series forecasting, multi-tariff support</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400">
                <a:solidFill>
                  <a:schemeClr val="dk1"/>
                </a:solidFill>
                <a:latin typeface="Times"/>
                <a:ea typeface="Times"/>
                <a:cs typeface="Times"/>
                <a:sym typeface="Times"/>
              </a:rPr>
              <a:t>•    Phase 3: </a:t>
            </a:r>
            <a:r>
              <a:rPr lang="en-GB" sz="1400">
                <a:solidFill>
                  <a:schemeClr val="dk1"/>
                </a:solidFill>
                <a:latin typeface="Times"/>
                <a:ea typeface="Times"/>
                <a:cs typeface="Times"/>
                <a:sym typeface="Times"/>
              </a:rPr>
              <a:t>loT integration, regional tariff variations, solar panel predictions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400">
                <a:solidFill>
                  <a:schemeClr val="dk1"/>
                </a:solidFill>
                <a:latin typeface="Times"/>
                <a:ea typeface="Times"/>
                <a:cs typeface="Times"/>
                <a:sym typeface="Times"/>
              </a:rPr>
              <a:t>•    Phase 4: </a:t>
            </a:r>
            <a:r>
              <a:rPr lang="en-GB" sz="1400">
                <a:solidFill>
                  <a:schemeClr val="dk1"/>
                </a:solidFill>
                <a:latin typeface="Times"/>
                <a:ea typeface="Times"/>
                <a:cs typeface="Times"/>
                <a:sym typeface="Times"/>
              </a:rPr>
              <a:t>Mobile app for iOS/Android, API development, cloud deployment (AWS/Heroku)</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b="1" lang="en-GB" sz="1400">
                <a:solidFill>
                  <a:schemeClr val="dk1"/>
                </a:solidFill>
                <a:latin typeface="Times"/>
                <a:ea typeface="Times"/>
                <a:cs typeface="Times"/>
                <a:sym typeface="Times"/>
              </a:rPr>
              <a:t>•    Phase 5: </a:t>
            </a:r>
            <a:r>
              <a:rPr lang="en-GB" sz="1400">
                <a:solidFill>
                  <a:schemeClr val="dk1"/>
                </a:solidFill>
                <a:latin typeface="Times"/>
                <a:ea typeface="Times"/>
                <a:cs typeface="Times"/>
                <a:sym typeface="Times"/>
              </a:rPr>
              <a:t>EV charger impact analysis, household energy optimization recommendations</a:t>
            </a:r>
            <a:endParaRPr sz="1400">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372725"/>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GB" sz="2700">
                <a:latin typeface="Times"/>
                <a:ea typeface="Times"/>
                <a:cs typeface="Times"/>
                <a:sym typeface="Times"/>
              </a:rPr>
              <a:t>Key Takeaways</a:t>
            </a:r>
            <a:endParaRPr sz="2700">
              <a:latin typeface="Times"/>
              <a:ea typeface="Times"/>
              <a:cs typeface="Times"/>
              <a:sym typeface="Times"/>
            </a:endParaRPr>
          </a:p>
          <a:p>
            <a:pPr indent="0" lvl="0" marL="0" rtl="0" algn="l">
              <a:spcBef>
                <a:spcPts val="0"/>
              </a:spcBef>
              <a:spcAft>
                <a:spcPts val="0"/>
              </a:spcAft>
              <a:buNone/>
            </a:pPr>
            <a:r>
              <a:t/>
            </a:r>
            <a:endParaRPr/>
          </a:p>
        </p:txBody>
      </p:sp>
      <p:sp>
        <p:nvSpPr>
          <p:cNvPr id="157" name="Google Shape;157;p27"/>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Machine Learning can accurately predict household electricity costs (R</a:t>
            </a:r>
            <a:r>
              <a:rPr baseline="30000" lang="en-GB" sz="1400">
                <a:solidFill>
                  <a:schemeClr val="dk1"/>
                </a:solidFill>
                <a:latin typeface="Times"/>
                <a:ea typeface="Times"/>
                <a:cs typeface="Times"/>
                <a:sym typeface="Times"/>
              </a:rPr>
              <a:t>2</a:t>
            </a:r>
            <a:r>
              <a:rPr lang="en-GB" sz="1400">
                <a:solidFill>
                  <a:schemeClr val="dk1"/>
                </a:solidFill>
                <a:latin typeface="Times"/>
                <a:ea typeface="Times"/>
                <a:cs typeface="Times"/>
                <a:sym typeface="Times"/>
              </a:rPr>
              <a:t> = 0.993)</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Random Forest provides superior performance for non-linear relationships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User-friendly Streamlit interface makes predictions accessible to non-technical users</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Production-grade code with proper caching, authentication, and error handling</a:t>
            </a:r>
            <a:endParaRPr sz="1400">
              <a:solidFill>
                <a:schemeClr val="dk1"/>
              </a:solidFill>
              <a:latin typeface="Times"/>
              <a:ea typeface="Times"/>
              <a:cs typeface="Times"/>
              <a:sym typeface="Times"/>
            </a:endParaRPr>
          </a:p>
          <a:p>
            <a:pPr indent="0" lvl="0" marL="0" rtl="0" algn="just">
              <a:lnSpc>
                <a:spcPct val="251428"/>
              </a:lnSpc>
              <a:spcBef>
                <a:spcPts val="0"/>
              </a:spcBef>
              <a:spcAft>
                <a:spcPts val="0"/>
              </a:spcAft>
              <a:buClr>
                <a:schemeClr val="dk1"/>
              </a:buClr>
              <a:buFont typeface="Arial"/>
              <a:buNone/>
            </a:pPr>
            <a:r>
              <a:rPr lang="en-GB" sz="1400">
                <a:solidFill>
                  <a:schemeClr val="dk1"/>
                </a:solidFill>
                <a:latin typeface="Times"/>
                <a:ea typeface="Times"/>
                <a:cs typeface="Times"/>
                <a:sym typeface="Times"/>
              </a:rPr>
              <a:t>•    Scalable framework ready for real-world deployment with actual meter data</a:t>
            </a:r>
            <a:endParaRPr sz="1400">
              <a:solidFill>
                <a:schemeClr val="dk1"/>
              </a:solidFill>
              <a:latin typeface="Times"/>
              <a:ea typeface="Times"/>
              <a:cs typeface="Times"/>
              <a:sym typeface="Times"/>
            </a:endParaRPr>
          </a:p>
          <a:p>
            <a:pPr indent="0" lvl="0" marL="0" rtl="0" algn="l">
              <a:spcBef>
                <a:spcPts val="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Times"/>
                <a:ea typeface="Times"/>
                <a:cs typeface="Times"/>
                <a:sym typeface="Times"/>
              </a:rPr>
              <a:t>REFERENCES</a:t>
            </a:r>
            <a:endParaRPr>
              <a:latin typeface="Times"/>
              <a:ea typeface="Times"/>
              <a:cs typeface="Times"/>
              <a:sym typeface="Times"/>
            </a:endParaRPr>
          </a:p>
        </p:txBody>
      </p:sp>
      <p:sp>
        <p:nvSpPr>
          <p:cNvPr id="163" name="Google Shape;163;p28"/>
          <p:cNvSpPr txBox="1"/>
          <p:nvPr>
            <p:ph idx="1" type="body"/>
          </p:nvPr>
        </p:nvSpPr>
        <p:spPr>
          <a:xfrm>
            <a:off x="311700" y="1417800"/>
            <a:ext cx="8520600" cy="31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Times"/>
                <a:ea typeface="Times"/>
                <a:cs typeface="Times"/>
                <a:sym typeface="Times"/>
              </a:rPr>
              <a:t>Scikit-learn: Random Forest Regressor Documentation</a:t>
            </a:r>
            <a:r>
              <a:rPr lang="en-GB" sz="1200">
                <a:solidFill>
                  <a:schemeClr val="dk1"/>
                </a:solidFill>
                <a:latin typeface="Times"/>
                <a:ea typeface="Times"/>
                <a:cs typeface="Times"/>
                <a:sym typeface="Times"/>
              </a:rPr>
              <a:t> </a:t>
            </a:r>
            <a:endParaRPr sz="1200">
              <a:solidFill>
                <a:schemeClr val="dk1"/>
              </a:solidFill>
              <a:latin typeface="Times"/>
              <a:ea typeface="Times"/>
              <a:cs typeface="Times"/>
              <a:sym typeface="Times"/>
            </a:endParaRPr>
          </a:p>
          <a:p>
            <a:pPr indent="0" lvl="0" marL="0" rtl="0" algn="l">
              <a:spcBef>
                <a:spcPts val="1200"/>
              </a:spcBef>
              <a:spcAft>
                <a:spcPts val="0"/>
              </a:spcAft>
              <a:buNone/>
            </a:pPr>
            <a:r>
              <a:rPr lang="en-GB" sz="1200" u="sng">
                <a:solidFill>
                  <a:schemeClr val="dk1"/>
                </a:solidFill>
                <a:latin typeface="Times"/>
                <a:ea typeface="Times"/>
                <a:cs typeface="Times"/>
                <a:sym typeface="Times"/>
              </a:rPr>
              <a:t>https://scikit-learn.org/stable/modules/generated/sklearn.ensemble.RandomForestRegressor.html</a:t>
            </a:r>
            <a:endParaRPr sz="1200" u="sng">
              <a:solidFill>
                <a:schemeClr val="dk1"/>
              </a:solidFill>
              <a:latin typeface="Times"/>
              <a:ea typeface="Times"/>
              <a:cs typeface="Times"/>
              <a:sym typeface="Times"/>
            </a:endParaRPr>
          </a:p>
          <a:p>
            <a:pPr indent="0" lvl="0" marL="0" rtl="0" algn="l">
              <a:spcBef>
                <a:spcPts val="1200"/>
              </a:spcBef>
              <a:spcAft>
                <a:spcPts val="0"/>
              </a:spcAft>
              <a:buNone/>
            </a:pPr>
            <a:r>
              <a:rPr lang="en-GB" sz="1200">
                <a:solidFill>
                  <a:schemeClr val="dk1"/>
                </a:solidFill>
                <a:latin typeface="Times"/>
                <a:ea typeface="Times"/>
                <a:cs typeface="Times"/>
                <a:sym typeface="Times"/>
              </a:rPr>
              <a:t>Streamlit Architecture &amp; Client-Server</a:t>
            </a:r>
            <a:r>
              <a:rPr lang="en-GB" sz="1200">
                <a:solidFill>
                  <a:schemeClr val="dk1"/>
                </a:solidFill>
                <a:latin typeface="Times"/>
                <a:ea typeface="Times"/>
                <a:cs typeface="Times"/>
                <a:sym typeface="Times"/>
              </a:rPr>
              <a:t> </a:t>
            </a:r>
            <a:r>
              <a:rPr lang="en-GB" sz="1200">
                <a:solidFill>
                  <a:schemeClr val="dk1"/>
                </a:solidFill>
                <a:latin typeface="Times"/>
                <a:ea typeface="Times"/>
                <a:cs typeface="Times"/>
                <a:sym typeface="Times"/>
              </a:rPr>
              <a:t>Model</a:t>
            </a:r>
            <a:endParaRPr sz="1200">
              <a:solidFill>
                <a:schemeClr val="dk1"/>
              </a:solidFill>
              <a:latin typeface="Times"/>
              <a:ea typeface="Times"/>
              <a:cs typeface="Times"/>
              <a:sym typeface="Times"/>
            </a:endParaRPr>
          </a:p>
          <a:p>
            <a:pPr indent="0" lvl="0" marL="0" rtl="0" algn="l">
              <a:spcBef>
                <a:spcPts val="1200"/>
              </a:spcBef>
              <a:spcAft>
                <a:spcPts val="0"/>
              </a:spcAft>
              <a:buNone/>
            </a:pPr>
            <a:r>
              <a:rPr lang="en-GB" sz="1200" u="sng">
                <a:solidFill>
                  <a:schemeClr val="dk1"/>
                </a:solidFill>
                <a:latin typeface="Times"/>
                <a:ea typeface="Times"/>
                <a:cs typeface="Times"/>
                <a:sym typeface="Times"/>
              </a:rPr>
              <a:t>https://docs.streamlit.io/develop/concepts/architecture/architecture</a:t>
            </a:r>
            <a:endParaRPr sz="1200" u="sng">
              <a:solidFill>
                <a:schemeClr val="dk1"/>
              </a:solidFill>
              <a:latin typeface="Times"/>
              <a:ea typeface="Times"/>
              <a:cs typeface="Times"/>
              <a:sym typeface="Times"/>
            </a:endParaRPr>
          </a:p>
          <a:p>
            <a:pPr indent="0" lvl="0" marL="0" rtl="0" algn="l">
              <a:spcBef>
                <a:spcPts val="1200"/>
              </a:spcBef>
              <a:spcAft>
                <a:spcPts val="0"/>
              </a:spcAft>
              <a:buNone/>
            </a:pPr>
            <a:r>
              <a:rPr lang="en-GB" sz="1200">
                <a:solidFill>
                  <a:schemeClr val="dk1"/>
                </a:solidFill>
                <a:latin typeface="Times"/>
                <a:ea typeface="Times"/>
                <a:cs typeface="Times"/>
                <a:sym typeface="Times"/>
              </a:rPr>
              <a:t>Model Evaluation Metrics: R², RMSE,MAE</a:t>
            </a:r>
            <a:endParaRPr sz="1200">
              <a:solidFill>
                <a:schemeClr val="dk1"/>
              </a:solidFill>
              <a:latin typeface="Times"/>
              <a:ea typeface="Times"/>
              <a:cs typeface="Times"/>
              <a:sym typeface="Times"/>
            </a:endParaRPr>
          </a:p>
          <a:p>
            <a:pPr indent="0" lvl="0" marL="0" rtl="0" algn="l">
              <a:spcBef>
                <a:spcPts val="1200"/>
              </a:spcBef>
              <a:spcAft>
                <a:spcPts val="0"/>
              </a:spcAft>
              <a:buNone/>
            </a:pPr>
            <a:r>
              <a:rPr lang="en-GB" sz="1200" u="sng">
                <a:solidFill>
                  <a:schemeClr val="dk1"/>
                </a:solidFill>
                <a:latin typeface="Times"/>
                <a:ea typeface="Times"/>
                <a:cs typeface="Times"/>
                <a:sym typeface="Times"/>
              </a:rPr>
              <a:t>https://scikit-learn.org/stable/modules/model_evaluation.html</a:t>
            </a:r>
            <a:endParaRPr sz="1200" u="sng">
              <a:solidFill>
                <a:schemeClr val="dk1"/>
              </a:solidFill>
              <a:latin typeface="Times"/>
              <a:ea typeface="Times"/>
              <a:cs typeface="Times"/>
              <a:sym typeface="Times"/>
            </a:endParaRPr>
          </a:p>
          <a:p>
            <a:pPr indent="0" lvl="0" marL="0" rtl="0" algn="l">
              <a:spcBef>
                <a:spcPts val="1200"/>
              </a:spcBef>
              <a:spcAft>
                <a:spcPts val="0"/>
              </a:spcAft>
              <a:buNone/>
            </a:pPr>
            <a:r>
              <a:rPr lang="en-GB" sz="1200">
                <a:solidFill>
                  <a:schemeClr val="dk1"/>
                </a:solidFill>
                <a:latin typeface="Times"/>
                <a:ea typeface="Times"/>
                <a:cs typeface="Times"/>
                <a:sym typeface="Times"/>
              </a:rPr>
              <a:t>Deploying ML Models with Python &amp; Streamlit</a:t>
            </a:r>
            <a:endParaRPr sz="1200">
              <a:solidFill>
                <a:schemeClr val="dk1"/>
              </a:solidFill>
              <a:latin typeface="Times"/>
              <a:ea typeface="Times"/>
              <a:cs typeface="Times"/>
              <a:sym typeface="Times"/>
            </a:endParaRPr>
          </a:p>
          <a:p>
            <a:pPr indent="0" lvl="0" marL="0" rtl="0" algn="l">
              <a:spcBef>
                <a:spcPts val="1200"/>
              </a:spcBef>
              <a:spcAft>
                <a:spcPts val="1200"/>
              </a:spcAft>
              <a:buNone/>
            </a:pPr>
            <a:r>
              <a:rPr lang="en-GB" sz="1200" u="sng">
                <a:solidFill>
                  <a:schemeClr val="dk1"/>
                </a:solidFill>
                <a:latin typeface="Times"/>
                <a:ea typeface="Times"/>
                <a:cs typeface="Times"/>
                <a:sym typeface="Times"/>
              </a:rPr>
              <a:t>https://365datascience.com/tutorials/machine-learning-tutorials/how-to-deploy-machine-learning-models-with-python-and-streamlit/</a:t>
            </a:r>
            <a:endParaRPr sz="1200" u="sng">
              <a:solidFill>
                <a:schemeClr val="dk1"/>
              </a:solidFill>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1702150"/>
            <a:ext cx="8520600" cy="189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3020">
                <a:latin typeface="Times"/>
                <a:ea typeface="Times"/>
                <a:cs typeface="Times"/>
                <a:sym typeface="Times"/>
              </a:rPr>
              <a:t>THANK YOU</a:t>
            </a:r>
            <a:endParaRPr b="1" sz="3020">
              <a:latin typeface="Times"/>
              <a:ea typeface="Times"/>
              <a:cs typeface="Times"/>
              <a:sym typeface="Times"/>
            </a:endParaRPr>
          </a:p>
        </p:txBody>
      </p:sp>
      <p:sp>
        <p:nvSpPr>
          <p:cNvPr id="169" name="Google Shape;169;p29"/>
          <p:cNvSpPr txBox="1"/>
          <p:nvPr>
            <p:ph idx="1" type="body"/>
          </p:nvPr>
        </p:nvSpPr>
        <p:spPr>
          <a:xfrm>
            <a:off x="311700" y="4295075"/>
            <a:ext cx="8520600" cy="273900"/>
          </a:xfrm>
          <a:prstGeom prst="rect">
            <a:avLst/>
          </a:prstGeom>
        </p:spPr>
        <p:txBody>
          <a:bodyPr anchorCtr="0" anchor="t" bIns="91425" lIns="91425" spcFirstLastPara="1" rIns="91425" wrap="square" tIns="91425">
            <a:normAutofit fontScale="32500"/>
          </a:bodyPr>
          <a:lstStyle/>
          <a:p>
            <a:pPr indent="0" lvl="0" marL="0" rtl="0" algn="l">
              <a:spcBef>
                <a:spcPts val="0"/>
              </a:spcBef>
              <a:spcAft>
                <a:spcPts val="1200"/>
              </a:spcAft>
              <a:buNone/>
            </a:pPr>
            <a:r>
              <a:rPr lang="en-GB"/>
              <a: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